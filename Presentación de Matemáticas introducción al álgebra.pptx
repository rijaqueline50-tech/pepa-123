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he Seasons" charset="1" panose="00000000000000000000"/>
      <p:regular r:id="rId16"/>
    </p:embeddedFont>
    <p:embeddedFont>
      <p:font typeface="Grandiflora One" charset="1" panose="00000000000000000000"/>
      <p:regular r:id="rId17"/>
    </p:embeddedFont>
    <p:embeddedFont>
      <p:font typeface="Arial" charset="1" panose="020B0604020202020204"/>
      <p:regular r:id="rId18"/>
    </p:embeddedFont>
    <p:embeddedFont>
      <p:font typeface="Hortensia" charset="1" panose="03020502040605060504"/>
      <p:regular r:id="rId19"/>
    </p:embeddedFont>
    <p:embeddedFont>
      <p:font typeface="Open Sans" charset="1" panose="020B0606030504020204"/>
      <p:regular r:id="rId20"/>
    </p:embeddedFont>
    <p:embeddedFont>
      <p:font typeface="The Seaso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63.png" Type="http://schemas.openxmlformats.org/officeDocument/2006/relationships/image"/><Relationship Id="rId2" Target="../media/image58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0.pn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0.pn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sv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18" Target="../media/image79.png" Type="http://schemas.openxmlformats.org/officeDocument/2006/relationships/image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9" r="0" b="-92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1511" y="7949699"/>
            <a:ext cx="1918935" cy="2025625"/>
          </a:xfrm>
          <a:custGeom>
            <a:avLst/>
            <a:gdLst/>
            <a:ahLst/>
            <a:cxnLst/>
            <a:rect r="r" b="b" t="t" l="l"/>
            <a:pathLst>
              <a:path h="2025625" w="1918935">
                <a:moveTo>
                  <a:pt x="0" y="0"/>
                </a:moveTo>
                <a:lnTo>
                  <a:pt x="1918936" y="0"/>
                </a:lnTo>
                <a:lnTo>
                  <a:pt x="1918936" y="2025625"/>
                </a:lnTo>
                <a:lnTo>
                  <a:pt x="0" y="202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52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96040">
            <a:off x="960347" y="1558041"/>
            <a:ext cx="2762563" cy="576109"/>
          </a:xfrm>
          <a:custGeom>
            <a:avLst/>
            <a:gdLst/>
            <a:ahLst/>
            <a:cxnLst/>
            <a:rect r="r" b="b" t="t" l="l"/>
            <a:pathLst>
              <a:path h="576109" w="2762563">
                <a:moveTo>
                  <a:pt x="0" y="0"/>
                </a:moveTo>
                <a:lnTo>
                  <a:pt x="2762563" y="0"/>
                </a:lnTo>
                <a:lnTo>
                  <a:pt x="2762563" y="576110"/>
                </a:lnTo>
                <a:lnTo>
                  <a:pt x="0" y="576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42" t="-53868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369109">
            <a:off x="15551450" y="6001344"/>
            <a:ext cx="2861880" cy="792524"/>
          </a:xfrm>
          <a:custGeom>
            <a:avLst/>
            <a:gdLst/>
            <a:ahLst/>
            <a:cxnLst/>
            <a:rect r="r" b="b" t="t" l="l"/>
            <a:pathLst>
              <a:path h="792524" w="2861880">
                <a:moveTo>
                  <a:pt x="0" y="0"/>
                </a:moveTo>
                <a:lnTo>
                  <a:pt x="2861880" y="0"/>
                </a:lnTo>
                <a:lnTo>
                  <a:pt x="2861880" y="792524"/>
                </a:lnTo>
                <a:lnTo>
                  <a:pt x="0" y="792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946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19347">
            <a:off x="627356" y="7537274"/>
            <a:ext cx="2294965" cy="824850"/>
          </a:xfrm>
          <a:custGeom>
            <a:avLst/>
            <a:gdLst/>
            <a:ahLst/>
            <a:cxnLst/>
            <a:rect r="r" b="b" t="t" l="l"/>
            <a:pathLst>
              <a:path h="824850" w="2294965">
                <a:moveTo>
                  <a:pt x="0" y="0"/>
                </a:moveTo>
                <a:lnTo>
                  <a:pt x="2294965" y="0"/>
                </a:lnTo>
                <a:lnTo>
                  <a:pt x="2294965" y="824850"/>
                </a:lnTo>
                <a:lnTo>
                  <a:pt x="0" y="824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1025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89326">
            <a:off x="12338339" y="5526436"/>
            <a:ext cx="1858313" cy="1911610"/>
          </a:xfrm>
          <a:custGeom>
            <a:avLst/>
            <a:gdLst/>
            <a:ahLst/>
            <a:cxnLst/>
            <a:rect r="r" b="b" t="t" l="l"/>
            <a:pathLst>
              <a:path h="1911610" w="1858313">
                <a:moveTo>
                  <a:pt x="0" y="0"/>
                </a:moveTo>
                <a:lnTo>
                  <a:pt x="1858313" y="0"/>
                </a:lnTo>
                <a:lnTo>
                  <a:pt x="1858313" y="1911609"/>
                </a:lnTo>
                <a:lnTo>
                  <a:pt x="0" y="1911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3744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89326">
            <a:off x="15272102" y="1765297"/>
            <a:ext cx="2265013" cy="783042"/>
          </a:xfrm>
          <a:custGeom>
            <a:avLst/>
            <a:gdLst/>
            <a:ahLst/>
            <a:cxnLst/>
            <a:rect r="r" b="b" t="t" l="l"/>
            <a:pathLst>
              <a:path h="783042" w="2265013">
                <a:moveTo>
                  <a:pt x="0" y="0"/>
                </a:moveTo>
                <a:lnTo>
                  <a:pt x="2265013" y="0"/>
                </a:lnTo>
                <a:lnTo>
                  <a:pt x="2265013" y="783042"/>
                </a:lnTo>
                <a:lnTo>
                  <a:pt x="0" y="7830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0897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994689">
            <a:off x="2028542" y="9672899"/>
            <a:ext cx="3559991" cy="988504"/>
          </a:xfrm>
          <a:custGeom>
            <a:avLst/>
            <a:gdLst/>
            <a:ahLst/>
            <a:cxnLst/>
            <a:rect r="r" b="b" t="t" l="l"/>
            <a:pathLst>
              <a:path h="988504" w="3559991">
                <a:moveTo>
                  <a:pt x="0" y="0"/>
                </a:moveTo>
                <a:lnTo>
                  <a:pt x="3559991" y="0"/>
                </a:lnTo>
                <a:lnTo>
                  <a:pt x="3559991" y="988505"/>
                </a:lnTo>
                <a:lnTo>
                  <a:pt x="0" y="988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774" t="-219291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282573" y="6607849"/>
            <a:ext cx="3003804" cy="4114800"/>
          </a:xfrm>
          <a:custGeom>
            <a:avLst/>
            <a:gdLst/>
            <a:ahLst/>
            <a:cxnLst/>
            <a:rect r="r" b="b" t="t" l="l"/>
            <a:pathLst>
              <a:path h="4114800" w="3003804">
                <a:moveTo>
                  <a:pt x="0" y="0"/>
                </a:moveTo>
                <a:lnTo>
                  <a:pt x="3003804" y="0"/>
                </a:lnTo>
                <a:lnTo>
                  <a:pt x="3003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04335" y="-1529811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28446" y="4865179"/>
            <a:ext cx="6590808" cy="59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7"/>
              </a:lnSpc>
            </a:pPr>
            <a:r>
              <a:rPr lang="en-US" sz="2300" spc="46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Sistema de control de movimiento vertical mediante un controlador PID.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0311" y="5926646"/>
            <a:ext cx="10542291" cy="136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3121" spc="-34">
                <a:solidFill>
                  <a:srgbClr val="FFFFFF"/>
                </a:solidFill>
                <a:latin typeface="Grandiflora One"/>
                <a:ea typeface="Grandiflora One"/>
                <a:cs typeface="Grandiflora One"/>
                <a:sym typeface="Grandiflora One"/>
              </a:rPr>
              <a:t>Narváez Díaz Irving Iván </a:t>
            </a:r>
          </a:p>
          <a:p>
            <a:pPr algn="ctr">
              <a:lnSpc>
                <a:spcPts val="2684"/>
              </a:lnSpc>
            </a:pPr>
          </a:p>
          <a:p>
            <a:pPr algn="ctr">
              <a:lnSpc>
                <a:spcPts val="2684"/>
              </a:lnSpc>
            </a:pPr>
            <a:r>
              <a:rPr lang="en-US" sz="3121" spc="-34">
                <a:solidFill>
                  <a:srgbClr val="FFFFFF"/>
                </a:solidFill>
                <a:latin typeface="Grandiflora One"/>
                <a:ea typeface="Grandiflora One"/>
                <a:cs typeface="Grandiflora One"/>
                <a:sym typeface="Grandiflora One"/>
              </a:rPr>
              <a:t>Rivera Sánchez Jaqueline Abigail </a:t>
            </a:r>
          </a:p>
          <a:p>
            <a:pPr algn="ctr" marL="0" indent="0" lvl="0">
              <a:lnSpc>
                <a:spcPts val="2684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5318" y="7806741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350976" y="2615552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62739" y="2412217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250073">
            <a:off x="-217867" y="-83274"/>
            <a:ext cx="3379897" cy="3177103"/>
          </a:xfrm>
          <a:custGeom>
            <a:avLst/>
            <a:gdLst/>
            <a:ahLst/>
            <a:cxnLst/>
            <a:rect r="r" b="b" t="t" l="l"/>
            <a:pathLst>
              <a:path h="3177103" w="3379897">
                <a:moveTo>
                  <a:pt x="0" y="0"/>
                </a:moveTo>
                <a:lnTo>
                  <a:pt x="3379897" y="0"/>
                </a:lnTo>
                <a:lnTo>
                  <a:pt x="3379897" y="3177103"/>
                </a:lnTo>
                <a:lnTo>
                  <a:pt x="0" y="317710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514783">
            <a:off x="-269280" y="-906027"/>
            <a:ext cx="3482722" cy="2490146"/>
          </a:xfrm>
          <a:custGeom>
            <a:avLst/>
            <a:gdLst/>
            <a:ahLst/>
            <a:cxnLst/>
            <a:rect r="r" b="b" t="t" l="l"/>
            <a:pathLst>
              <a:path h="2490146" w="3482722">
                <a:moveTo>
                  <a:pt x="0" y="0"/>
                </a:moveTo>
                <a:lnTo>
                  <a:pt x="3482723" y="0"/>
                </a:lnTo>
                <a:lnTo>
                  <a:pt x="3482723" y="2490147"/>
                </a:lnTo>
                <a:lnTo>
                  <a:pt x="0" y="24901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514783">
            <a:off x="3435041" y="-906027"/>
            <a:ext cx="3482722" cy="2490146"/>
          </a:xfrm>
          <a:custGeom>
            <a:avLst/>
            <a:gdLst/>
            <a:ahLst/>
            <a:cxnLst/>
            <a:rect r="r" b="b" t="t" l="l"/>
            <a:pathLst>
              <a:path h="2490146" w="3482722">
                <a:moveTo>
                  <a:pt x="0" y="0"/>
                </a:moveTo>
                <a:lnTo>
                  <a:pt x="3482722" y="0"/>
                </a:lnTo>
                <a:lnTo>
                  <a:pt x="3482722" y="2490147"/>
                </a:lnTo>
                <a:lnTo>
                  <a:pt x="0" y="24901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514783">
            <a:off x="7139362" y="-906027"/>
            <a:ext cx="3482722" cy="2490146"/>
          </a:xfrm>
          <a:custGeom>
            <a:avLst/>
            <a:gdLst/>
            <a:ahLst/>
            <a:cxnLst/>
            <a:rect r="r" b="b" t="t" l="l"/>
            <a:pathLst>
              <a:path h="2490146" w="3482722">
                <a:moveTo>
                  <a:pt x="0" y="0"/>
                </a:moveTo>
                <a:lnTo>
                  <a:pt x="3482722" y="0"/>
                </a:lnTo>
                <a:lnTo>
                  <a:pt x="3482722" y="2490147"/>
                </a:lnTo>
                <a:lnTo>
                  <a:pt x="0" y="24901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514783">
            <a:off x="10843683" y="-906027"/>
            <a:ext cx="3482722" cy="2490146"/>
          </a:xfrm>
          <a:custGeom>
            <a:avLst/>
            <a:gdLst/>
            <a:ahLst/>
            <a:cxnLst/>
            <a:rect r="r" b="b" t="t" l="l"/>
            <a:pathLst>
              <a:path h="2490146" w="3482722">
                <a:moveTo>
                  <a:pt x="0" y="0"/>
                </a:moveTo>
                <a:lnTo>
                  <a:pt x="3482722" y="0"/>
                </a:lnTo>
                <a:lnTo>
                  <a:pt x="3482722" y="2490147"/>
                </a:lnTo>
                <a:lnTo>
                  <a:pt x="0" y="24901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358185" y="3348977"/>
            <a:ext cx="12466543" cy="132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99"/>
              </a:lnSpc>
            </a:pPr>
            <a:r>
              <a:rPr lang="en-US" sz="9999" spc="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VERTIPID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989326">
            <a:off x="3637061" y="1456412"/>
            <a:ext cx="1858313" cy="1911610"/>
          </a:xfrm>
          <a:custGeom>
            <a:avLst/>
            <a:gdLst/>
            <a:ahLst/>
            <a:cxnLst/>
            <a:rect r="r" b="b" t="t" l="l"/>
            <a:pathLst>
              <a:path h="1911610" w="1858313">
                <a:moveTo>
                  <a:pt x="0" y="0"/>
                </a:moveTo>
                <a:lnTo>
                  <a:pt x="1858313" y="0"/>
                </a:lnTo>
                <a:lnTo>
                  <a:pt x="1858313" y="1911610"/>
                </a:lnTo>
                <a:lnTo>
                  <a:pt x="0" y="19116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3744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2" t="0" r="-19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2695" y="2110640"/>
            <a:ext cx="7772759" cy="3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</a:pPr>
          </a:p>
          <a:p>
            <a:pPr algn="l" marL="0" indent="0" lvl="0">
              <a:lnSpc>
                <a:spcPts val="1960"/>
              </a:lnSpc>
            </a:pPr>
            <a:r>
              <a:rPr lang="en-US" sz="1400" spc="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presente proyecto consiste en desarrollar un sistema de control de altura mediante un motor brushless, un sensor ultrasónico y un controlador PID (Proporcional, Integral y Derivativo).</a:t>
            </a:r>
          </a:p>
          <a:p>
            <a:pPr algn="l" marL="0" indent="0" lvl="0">
              <a:lnSpc>
                <a:spcPts val="1960"/>
              </a:lnSpc>
            </a:pPr>
          </a:p>
          <a:p>
            <a:pPr algn="l" marL="0" indent="0" lvl="0">
              <a:lnSpc>
                <a:spcPts val="1960"/>
              </a:lnSpc>
            </a:pPr>
            <a:r>
              <a:rPr lang="en-US" sz="1400" spc="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sensor ultrasónico mide continuamente la altura del sistema y envía esta información como retroalimentación al controlador PID, el cual calcula los ajustes necesarios en la velocidad del motor para alcanzar la altura deseada y mantener la estabilidad.</a:t>
            </a:r>
          </a:p>
          <a:p>
            <a:pPr algn="l" marL="0" indent="0" lvl="0">
              <a:lnSpc>
                <a:spcPts val="1960"/>
              </a:lnSpc>
            </a:pPr>
          </a:p>
          <a:p>
            <a:pPr algn="l">
              <a:lnSpc>
                <a:spcPts val="1960"/>
              </a:lnSpc>
            </a:pPr>
            <a:r>
              <a:rPr lang="en-US" sz="1400" spc="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 este proyecto buscamos aplicar los principios del control automático para comprender cómo la retroalimentación permite regular el movimiento y mejorar la precisión de un sistema mecatrónico.</a:t>
            </a: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0351" y="599684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823130" y="-688578"/>
            <a:ext cx="2915558" cy="4384298"/>
          </a:xfrm>
          <a:custGeom>
            <a:avLst/>
            <a:gdLst/>
            <a:ahLst/>
            <a:cxnLst/>
            <a:rect r="r" b="b" t="t" l="l"/>
            <a:pathLst>
              <a:path h="4384298" w="2915558">
                <a:moveTo>
                  <a:pt x="0" y="0"/>
                </a:moveTo>
                <a:lnTo>
                  <a:pt x="2915558" y="0"/>
                </a:lnTo>
                <a:lnTo>
                  <a:pt x="2915558" y="4384298"/>
                </a:lnTo>
                <a:lnTo>
                  <a:pt x="0" y="4384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407166" y="7550799"/>
            <a:ext cx="2880211" cy="2592190"/>
          </a:xfrm>
          <a:custGeom>
            <a:avLst/>
            <a:gdLst/>
            <a:ahLst/>
            <a:cxnLst/>
            <a:rect r="r" b="b" t="t" l="l"/>
            <a:pathLst>
              <a:path h="2592190" w="2880211">
                <a:moveTo>
                  <a:pt x="0" y="0"/>
                </a:moveTo>
                <a:lnTo>
                  <a:pt x="2880211" y="0"/>
                </a:lnTo>
                <a:lnTo>
                  <a:pt x="2880211" y="2592190"/>
                </a:lnTo>
                <a:lnTo>
                  <a:pt x="0" y="2592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65454" y="442867"/>
            <a:ext cx="7315200" cy="1060704"/>
          </a:xfrm>
          <a:custGeom>
            <a:avLst/>
            <a:gdLst/>
            <a:ahLst/>
            <a:cxnLst/>
            <a:rect r="r" b="b" t="t" l="l"/>
            <a:pathLst>
              <a:path h="1060704" w="7315200">
                <a:moveTo>
                  <a:pt x="0" y="0"/>
                </a:moveTo>
                <a:lnTo>
                  <a:pt x="7315200" y="0"/>
                </a:lnTo>
                <a:lnTo>
                  <a:pt x="7315200" y="1060704"/>
                </a:lnTo>
                <a:lnTo>
                  <a:pt x="0" y="1060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05848" y="1011319"/>
            <a:ext cx="10498807" cy="7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7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I</a:t>
            </a:r>
            <a:r>
              <a:rPr lang="en-US" sz="4900" strike="noStrike" u="none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n</a:t>
            </a:r>
            <a:r>
              <a:rPr lang="en-US" sz="4900" strike="noStrike" u="none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tr</a:t>
            </a:r>
            <a:r>
              <a:rPr lang="en-US" sz="4900" strike="noStrike" u="none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o</a:t>
            </a:r>
            <a:r>
              <a:rPr lang="en-US" sz="4900" strike="noStrike" u="none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ducción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" t="0" r="-1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952" y="0"/>
            <a:ext cx="7315200" cy="3986784"/>
          </a:xfrm>
          <a:custGeom>
            <a:avLst/>
            <a:gdLst/>
            <a:ahLst/>
            <a:cxnLst/>
            <a:rect r="r" b="b" t="t" l="l"/>
            <a:pathLst>
              <a:path h="3986784" w="7315200">
                <a:moveTo>
                  <a:pt x="0" y="0"/>
                </a:moveTo>
                <a:lnTo>
                  <a:pt x="7315200" y="0"/>
                </a:lnTo>
                <a:lnTo>
                  <a:pt x="7315200" y="3986784"/>
                </a:lnTo>
                <a:lnTo>
                  <a:pt x="0" y="3986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63897" y="5813610"/>
            <a:ext cx="3765042" cy="4114800"/>
          </a:xfrm>
          <a:custGeom>
            <a:avLst/>
            <a:gdLst/>
            <a:ahLst/>
            <a:cxnLst/>
            <a:rect r="r" b="b" t="t" l="l"/>
            <a:pathLst>
              <a:path h="4114800" w="3765042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28558" y="2841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8031079" y="7736261"/>
            <a:ext cx="2915558" cy="4384298"/>
          </a:xfrm>
          <a:custGeom>
            <a:avLst/>
            <a:gdLst/>
            <a:ahLst/>
            <a:cxnLst/>
            <a:rect r="r" b="b" t="t" l="l"/>
            <a:pathLst>
              <a:path h="4384298" w="2915558">
                <a:moveTo>
                  <a:pt x="0" y="0"/>
                </a:moveTo>
                <a:lnTo>
                  <a:pt x="2915559" y="0"/>
                </a:lnTo>
                <a:lnTo>
                  <a:pt x="2915559" y="4384298"/>
                </a:lnTo>
                <a:lnTo>
                  <a:pt x="0" y="4384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832892" y="2841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37052" y="8727948"/>
            <a:ext cx="7315200" cy="1060704"/>
          </a:xfrm>
          <a:custGeom>
            <a:avLst/>
            <a:gdLst/>
            <a:ahLst/>
            <a:cxnLst/>
            <a:rect r="r" b="b" t="t" l="l"/>
            <a:pathLst>
              <a:path h="1060704" w="7315200">
                <a:moveTo>
                  <a:pt x="0" y="0"/>
                </a:moveTo>
                <a:lnTo>
                  <a:pt x="7315200" y="0"/>
                </a:lnTo>
                <a:lnTo>
                  <a:pt x="7315200" y="1060704"/>
                </a:lnTo>
                <a:lnTo>
                  <a:pt x="0" y="10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5648" y="2031492"/>
            <a:ext cx="10498807" cy="7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7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stm32f407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1824" y="3538441"/>
            <a:ext cx="7152176" cy="258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STM32F407 es un microcontrolador basado en un procesador ARM Cortex-M4 que permite ejecutar operaciones de control en tiempo real. En este proyecto, se utiliza para procesar las mediciones del sensor ultrasónico, calcular el error entre la altura deseada y la altura actual, y ejecutar el algoritmo PID para regular la velocidad del motor brushless.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Gracias a su capacidad de procesamiento y sus temporizadores para generar señales PWM, permite implementar un sistema de control automático que busca alcanzar y mantener una altura estable.</a:t>
            </a:r>
          </a:p>
          <a:p>
            <a:pPr algn="l">
              <a:lnSpc>
                <a:spcPts val="23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9" r="0" b="-92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49144" y="6585989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7717" y="2182975"/>
            <a:ext cx="127945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</a:pPr>
            <a:r>
              <a:rPr lang="en-US" sz="4500" spc="-49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Justificación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78257" y="-1534251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24937" y="7338060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79883" y="-609015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0263" y="3494189"/>
            <a:ext cx="7152176" cy="358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desarrollo de este proyecto surge de la necesidad de implementar un sistema capaz de controlar y mantener una altura determinada de manera automática. Mediante el uso de un motor brushless, un sensor ultrasónico y un controlador PID, se busca regular la velocidad del motor de acuerdo con la diferencia entre la altura deseada y la altura medida.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importancia de este sistema radica en la aplicación de la retroalimentación para reducir el error y mejorar la estabilidad y precisión del movimiento.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Además, el proyecto permite integrar conocimientos de electrónica, programación y control automático, fortaleciendo las habilidades prácticas necesarias para el desarrollo de soluciones mecatrónicas.</a:t>
            </a:r>
          </a:p>
          <a:p>
            <a:pPr algn="l">
              <a:lnSpc>
                <a:spcPts val="20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96069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55892" y="-855572"/>
            <a:ext cx="5270692" cy="3768545"/>
          </a:xfrm>
          <a:custGeom>
            <a:avLst/>
            <a:gdLst/>
            <a:ahLst/>
            <a:cxnLst/>
            <a:rect r="r" b="b" t="t" l="l"/>
            <a:pathLst>
              <a:path h="3768545" w="5270692">
                <a:moveTo>
                  <a:pt x="0" y="0"/>
                </a:moveTo>
                <a:lnTo>
                  <a:pt x="5270692" y="0"/>
                </a:lnTo>
                <a:lnTo>
                  <a:pt x="5270692" y="3768544"/>
                </a:lnTo>
                <a:lnTo>
                  <a:pt x="0" y="37685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80912" y="3898916"/>
            <a:ext cx="8459834" cy="415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721" indent="-172360" lvl="1">
              <a:lnSpc>
                <a:spcPts val="2235"/>
              </a:lnSpc>
              <a:buFont typeface="Arial"/>
              <a:buChar char="•"/>
            </a:pPr>
            <a:r>
              <a:rPr lang="en-US" sz="1596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Problemática: Mantener una altura específica de manera estable puede ser complicado cuando el sistema depende únicamente de ajustes manuales, ya que pueden presentarse variaciones en la posición y dificultades para corregirlas con precisión.</a:t>
            </a:r>
          </a:p>
          <a:p>
            <a:pPr algn="l">
              <a:lnSpc>
                <a:spcPts val="2235"/>
              </a:lnSpc>
            </a:pPr>
          </a:p>
          <a:p>
            <a:pPr algn="l" marL="344721" indent="-172360" lvl="1">
              <a:lnSpc>
                <a:spcPts val="2235"/>
              </a:lnSpc>
              <a:buFont typeface="Arial"/>
              <a:buChar char="•"/>
            </a:pPr>
            <a:r>
              <a:rPr lang="en-US" sz="1596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 e importancia: Este proyecto propone un sistema de control automático implementado en un microcontrolador STM32, que procesa las mediciones de un sensor ultrasónico y utiliza un controlador PID para ajustar la velocidad del motor brushless. De esta manera, se busca reducir el error entre la altura deseada y la altura medida, logrando una respuesta más precisa y estable.</a:t>
            </a:r>
          </a:p>
          <a:p>
            <a:pPr algn="l">
              <a:lnSpc>
                <a:spcPts val="2235"/>
              </a:lnSpc>
            </a:pPr>
          </a:p>
          <a:p>
            <a:pPr algn="l" marL="344721" indent="-172360" lvl="1">
              <a:lnSpc>
                <a:spcPts val="2235"/>
              </a:lnSpc>
              <a:buFont typeface="Arial"/>
              <a:buChar char="•"/>
            </a:pPr>
            <a:r>
              <a:rPr lang="en-US" sz="1596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 sistema es importante porque permite aplicar técnicas de control automático y retroalimentación, además de integrar programación embebida, sensores y electrónica de potencia en una solución mecatrónica.</a:t>
            </a:r>
          </a:p>
          <a:p>
            <a:pPr algn="l">
              <a:lnSpc>
                <a:spcPts val="223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8603628">
            <a:off x="14473078" y="7160511"/>
            <a:ext cx="5270692" cy="3768545"/>
          </a:xfrm>
          <a:custGeom>
            <a:avLst/>
            <a:gdLst/>
            <a:ahLst/>
            <a:cxnLst/>
            <a:rect r="r" b="b" t="t" l="l"/>
            <a:pathLst>
              <a:path h="3768545" w="5270692">
                <a:moveTo>
                  <a:pt x="0" y="0"/>
                </a:moveTo>
                <a:lnTo>
                  <a:pt x="5270692" y="0"/>
                </a:lnTo>
                <a:lnTo>
                  <a:pt x="5270692" y="3768545"/>
                </a:lnTo>
                <a:lnTo>
                  <a:pt x="0" y="37685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021473">
            <a:off x="14044623" y="-824668"/>
            <a:ext cx="4752010" cy="3136327"/>
          </a:xfrm>
          <a:custGeom>
            <a:avLst/>
            <a:gdLst/>
            <a:ahLst/>
            <a:cxnLst/>
            <a:rect r="r" b="b" t="t" l="l"/>
            <a:pathLst>
              <a:path h="3136327" w="4752010">
                <a:moveTo>
                  <a:pt x="0" y="0"/>
                </a:moveTo>
                <a:lnTo>
                  <a:pt x="4752010" y="0"/>
                </a:lnTo>
                <a:lnTo>
                  <a:pt x="4752010" y="3136326"/>
                </a:lnTo>
                <a:lnTo>
                  <a:pt x="0" y="3136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10464" y="1987183"/>
            <a:ext cx="8825926" cy="126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Problemática que resuelve el sistema y por qué es importante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9" r="0" b="-92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49144" y="6585989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5721" y="1215975"/>
            <a:ext cx="127945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</a:pPr>
            <a:r>
              <a:rPr lang="en-US" sz="4500" spc="-49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CRONORAMA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00956" y="-1740750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24937" y="7338060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79883" y="-609015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1897" y="2921080"/>
            <a:ext cx="16744206" cy="5032765"/>
          </a:xfrm>
          <a:custGeom>
            <a:avLst/>
            <a:gdLst/>
            <a:ahLst/>
            <a:cxnLst/>
            <a:rect r="r" b="b" t="t" l="l"/>
            <a:pathLst>
              <a:path h="5032765" w="16744206">
                <a:moveTo>
                  <a:pt x="0" y="0"/>
                </a:moveTo>
                <a:lnTo>
                  <a:pt x="16744206" y="0"/>
                </a:lnTo>
                <a:lnTo>
                  <a:pt x="16744206" y="5032765"/>
                </a:lnTo>
                <a:lnTo>
                  <a:pt x="0" y="5032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21" t="0" r="-62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66" r="-33350" b="-92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89326">
            <a:off x="6594093" y="-183280"/>
            <a:ext cx="2265013" cy="783042"/>
          </a:xfrm>
          <a:custGeom>
            <a:avLst/>
            <a:gdLst/>
            <a:ahLst/>
            <a:cxnLst/>
            <a:rect r="r" b="b" t="t" l="l"/>
            <a:pathLst>
              <a:path h="783042" w="2265013">
                <a:moveTo>
                  <a:pt x="0" y="0"/>
                </a:moveTo>
                <a:lnTo>
                  <a:pt x="2265013" y="0"/>
                </a:lnTo>
                <a:lnTo>
                  <a:pt x="2265013" y="783043"/>
                </a:lnTo>
                <a:lnTo>
                  <a:pt x="0" y="783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08976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974770" y="596069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1706" y="6931252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6" y="0"/>
                </a:lnTo>
                <a:lnTo>
                  <a:pt x="3298976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76456" y="-1142377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7" y="0"/>
                </a:lnTo>
                <a:lnTo>
                  <a:pt x="3298977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59745" y="-1813359"/>
            <a:ext cx="4308691" cy="4114800"/>
          </a:xfrm>
          <a:custGeom>
            <a:avLst/>
            <a:gdLst/>
            <a:ahLst/>
            <a:cxnLst/>
            <a:rect r="r" b="b" t="t" l="l"/>
            <a:pathLst>
              <a:path h="4114800" w="4308691">
                <a:moveTo>
                  <a:pt x="0" y="0"/>
                </a:moveTo>
                <a:lnTo>
                  <a:pt x="4308691" y="0"/>
                </a:lnTo>
                <a:lnTo>
                  <a:pt x="4308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8880868" y="-796614"/>
            <a:ext cx="3717835" cy="2453771"/>
          </a:xfrm>
          <a:custGeom>
            <a:avLst/>
            <a:gdLst/>
            <a:ahLst/>
            <a:cxnLst/>
            <a:rect r="r" b="b" t="t" l="l"/>
            <a:pathLst>
              <a:path h="2453771" w="3717835">
                <a:moveTo>
                  <a:pt x="0" y="0"/>
                </a:moveTo>
                <a:lnTo>
                  <a:pt x="3717835" y="0"/>
                </a:lnTo>
                <a:lnTo>
                  <a:pt x="3717835" y="2453771"/>
                </a:lnTo>
                <a:lnTo>
                  <a:pt x="0" y="2453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7443" y="2612264"/>
            <a:ext cx="5342152" cy="3693285"/>
          </a:xfrm>
          <a:custGeom>
            <a:avLst/>
            <a:gdLst/>
            <a:ahLst/>
            <a:cxnLst/>
            <a:rect r="r" b="b" t="t" l="l"/>
            <a:pathLst>
              <a:path h="3693285" w="5342152">
                <a:moveTo>
                  <a:pt x="0" y="0"/>
                </a:moveTo>
                <a:lnTo>
                  <a:pt x="5342153" y="0"/>
                </a:lnTo>
                <a:lnTo>
                  <a:pt x="5342153" y="3693285"/>
                </a:lnTo>
                <a:lnTo>
                  <a:pt x="0" y="36932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16095" y="4458906"/>
            <a:ext cx="4763464" cy="3226169"/>
          </a:xfrm>
          <a:custGeom>
            <a:avLst/>
            <a:gdLst/>
            <a:ahLst/>
            <a:cxnLst/>
            <a:rect r="r" b="b" t="t" l="l"/>
            <a:pathLst>
              <a:path h="3226169" w="4763464">
                <a:moveTo>
                  <a:pt x="0" y="0"/>
                </a:moveTo>
                <a:lnTo>
                  <a:pt x="4763464" y="0"/>
                </a:lnTo>
                <a:lnTo>
                  <a:pt x="4763464" y="3226169"/>
                </a:lnTo>
                <a:lnTo>
                  <a:pt x="0" y="32261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597" t="-10689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96058" y="2932557"/>
            <a:ext cx="4879237" cy="5569755"/>
          </a:xfrm>
          <a:custGeom>
            <a:avLst/>
            <a:gdLst/>
            <a:ahLst/>
            <a:cxnLst/>
            <a:rect r="r" b="b" t="t" l="l"/>
            <a:pathLst>
              <a:path h="5569755" w="4879237">
                <a:moveTo>
                  <a:pt x="0" y="0"/>
                </a:moveTo>
                <a:lnTo>
                  <a:pt x="4879237" y="0"/>
                </a:lnTo>
                <a:lnTo>
                  <a:pt x="4879237" y="5569755"/>
                </a:lnTo>
                <a:lnTo>
                  <a:pt x="0" y="5569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1245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16002" y="1092890"/>
            <a:ext cx="4651523" cy="233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2"/>
              </a:lnSpc>
            </a:pPr>
            <a:r>
              <a:rPr lang="en-US" sz="54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Arquitectura</a:t>
            </a:r>
          </a:p>
          <a:p>
            <a:pPr algn="l">
              <a:lnSpc>
                <a:spcPts val="6102"/>
              </a:lnSpc>
            </a:pPr>
          </a:p>
          <a:p>
            <a:pPr algn="l" marL="0" indent="0" lvl="0">
              <a:lnSpc>
                <a:spcPts val="6102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Mecánica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2540" y="59784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24503" y="-337982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7" y="0"/>
                </a:lnTo>
                <a:lnTo>
                  <a:pt x="3298977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368" y="1443330"/>
            <a:ext cx="14308135" cy="93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5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Parte eléctrica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133955" y="-337982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7" y="0"/>
                </a:lnTo>
                <a:lnTo>
                  <a:pt x="3298977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55542" y="301435"/>
            <a:ext cx="4789073" cy="526798"/>
          </a:xfrm>
          <a:custGeom>
            <a:avLst/>
            <a:gdLst/>
            <a:ahLst/>
            <a:cxnLst/>
            <a:rect r="r" b="b" t="t" l="l"/>
            <a:pathLst>
              <a:path h="526798" w="4789073">
                <a:moveTo>
                  <a:pt x="0" y="0"/>
                </a:moveTo>
                <a:lnTo>
                  <a:pt x="4789072" y="0"/>
                </a:lnTo>
                <a:lnTo>
                  <a:pt x="4789072" y="526798"/>
                </a:lnTo>
                <a:lnTo>
                  <a:pt x="0" y="526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40582" y="481617"/>
            <a:ext cx="3555030" cy="693231"/>
          </a:xfrm>
          <a:custGeom>
            <a:avLst/>
            <a:gdLst/>
            <a:ahLst/>
            <a:cxnLst/>
            <a:rect r="r" b="b" t="t" l="l"/>
            <a:pathLst>
              <a:path h="693231" w="3555030">
                <a:moveTo>
                  <a:pt x="0" y="0"/>
                </a:moveTo>
                <a:lnTo>
                  <a:pt x="3555031" y="0"/>
                </a:lnTo>
                <a:lnTo>
                  <a:pt x="3555031" y="693231"/>
                </a:lnTo>
                <a:lnTo>
                  <a:pt x="0" y="693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19535" y="6491576"/>
            <a:ext cx="3003804" cy="4114800"/>
          </a:xfrm>
          <a:custGeom>
            <a:avLst/>
            <a:gdLst/>
            <a:ahLst/>
            <a:cxnLst/>
            <a:rect r="r" b="b" t="t" l="l"/>
            <a:pathLst>
              <a:path h="4114800" w="3003804">
                <a:moveTo>
                  <a:pt x="0" y="0"/>
                </a:moveTo>
                <a:lnTo>
                  <a:pt x="3003804" y="0"/>
                </a:lnTo>
                <a:lnTo>
                  <a:pt x="3003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20144" y="2341970"/>
            <a:ext cx="8509519" cy="7272871"/>
          </a:xfrm>
          <a:custGeom>
            <a:avLst/>
            <a:gdLst/>
            <a:ahLst/>
            <a:cxnLst/>
            <a:rect r="r" b="b" t="t" l="l"/>
            <a:pathLst>
              <a:path h="7272871" w="8509519">
                <a:moveTo>
                  <a:pt x="0" y="0"/>
                </a:moveTo>
                <a:lnTo>
                  <a:pt x="8509519" y="0"/>
                </a:lnTo>
                <a:lnTo>
                  <a:pt x="8509519" y="7272872"/>
                </a:lnTo>
                <a:lnTo>
                  <a:pt x="0" y="7272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" t="0" r="-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2540" y="59784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24503" y="-337982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7" y="0"/>
                </a:lnTo>
                <a:lnTo>
                  <a:pt x="3298977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2550" y="1314008"/>
            <a:ext cx="14308135" cy="93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5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Hortensia"/>
                <a:ea typeface="Hortensia"/>
                <a:cs typeface="Hortensia"/>
                <a:sym typeface="Hortensia"/>
              </a:rPr>
              <a:t>Componentes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133955" y="-337982"/>
            <a:ext cx="3298977" cy="3881149"/>
          </a:xfrm>
          <a:custGeom>
            <a:avLst/>
            <a:gdLst/>
            <a:ahLst/>
            <a:cxnLst/>
            <a:rect r="r" b="b" t="t" l="l"/>
            <a:pathLst>
              <a:path h="3881149" w="3298977">
                <a:moveTo>
                  <a:pt x="0" y="0"/>
                </a:moveTo>
                <a:lnTo>
                  <a:pt x="3298977" y="0"/>
                </a:lnTo>
                <a:lnTo>
                  <a:pt x="3298977" y="3881149"/>
                </a:lnTo>
                <a:lnTo>
                  <a:pt x="0" y="3881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3920631" y="586134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88165" y="9258300"/>
            <a:ext cx="4789073" cy="526798"/>
          </a:xfrm>
          <a:custGeom>
            <a:avLst/>
            <a:gdLst/>
            <a:ahLst/>
            <a:cxnLst/>
            <a:rect r="r" b="b" t="t" l="l"/>
            <a:pathLst>
              <a:path h="526798" w="4789073">
                <a:moveTo>
                  <a:pt x="0" y="0"/>
                </a:moveTo>
                <a:lnTo>
                  <a:pt x="4789072" y="0"/>
                </a:lnTo>
                <a:lnTo>
                  <a:pt x="4789072" y="526798"/>
                </a:lnTo>
                <a:lnTo>
                  <a:pt x="0" y="526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55542" y="301435"/>
            <a:ext cx="4789073" cy="526798"/>
          </a:xfrm>
          <a:custGeom>
            <a:avLst/>
            <a:gdLst/>
            <a:ahLst/>
            <a:cxnLst/>
            <a:rect r="r" b="b" t="t" l="l"/>
            <a:pathLst>
              <a:path h="526798" w="4789073">
                <a:moveTo>
                  <a:pt x="0" y="0"/>
                </a:moveTo>
                <a:lnTo>
                  <a:pt x="4789072" y="0"/>
                </a:lnTo>
                <a:lnTo>
                  <a:pt x="4789072" y="526798"/>
                </a:lnTo>
                <a:lnTo>
                  <a:pt x="0" y="526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40582" y="481617"/>
            <a:ext cx="3555030" cy="693231"/>
          </a:xfrm>
          <a:custGeom>
            <a:avLst/>
            <a:gdLst/>
            <a:ahLst/>
            <a:cxnLst/>
            <a:rect r="r" b="b" t="t" l="l"/>
            <a:pathLst>
              <a:path h="693231" w="3555030">
                <a:moveTo>
                  <a:pt x="0" y="0"/>
                </a:moveTo>
                <a:lnTo>
                  <a:pt x="3555031" y="0"/>
                </a:lnTo>
                <a:lnTo>
                  <a:pt x="3555031" y="693231"/>
                </a:lnTo>
                <a:lnTo>
                  <a:pt x="0" y="693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55542" y="3743192"/>
            <a:ext cx="526215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PTR de 1 in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90534" y="2991043"/>
            <a:ext cx="559216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3838" y="6829301"/>
            <a:ext cx="570555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STM32F407G-DISC1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7142" y="7421041"/>
            <a:ext cx="570555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Redondo de 10mm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40582" y="6259578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Pz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40582" y="6829301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Pz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40582" y="7421041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2.20 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77142" y="7988181"/>
            <a:ext cx="570555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Tornillo M4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40582" y="7988181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Pz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7004" y="2991043"/>
            <a:ext cx="559216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0534" y="4227364"/>
            <a:ext cx="526215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 Ultrasonico (Hc-sr04)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02683" y="4870705"/>
            <a:ext cx="747918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controlador electrónico de velocidad (ESC) de 30A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89497" y="5542620"/>
            <a:ext cx="570555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Motor Brushless (A2212 de 10000 KV)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90534" y="6185961"/>
            <a:ext cx="570555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Fuente Conmutada de 40A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11762" y="3743192"/>
            <a:ext cx="526215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11762" y="4227364"/>
            <a:ext cx="526215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Pz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40582" y="4906222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Pz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40582" y="5578137"/>
            <a:ext cx="140451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Pz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432198" y="8074980"/>
            <a:ext cx="3555030" cy="693231"/>
          </a:xfrm>
          <a:custGeom>
            <a:avLst/>
            <a:gdLst/>
            <a:ahLst/>
            <a:cxnLst/>
            <a:rect r="r" b="b" t="t" l="l"/>
            <a:pathLst>
              <a:path h="693231" w="3555030">
                <a:moveTo>
                  <a:pt x="0" y="0"/>
                </a:moveTo>
                <a:lnTo>
                  <a:pt x="3555030" y="0"/>
                </a:lnTo>
                <a:lnTo>
                  <a:pt x="3555030" y="693231"/>
                </a:lnTo>
                <a:lnTo>
                  <a:pt x="0" y="693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69" t="0" r="-476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40387" y="692929"/>
            <a:ext cx="7315200" cy="1060704"/>
          </a:xfrm>
          <a:custGeom>
            <a:avLst/>
            <a:gdLst/>
            <a:ahLst/>
            <a:cxnLst/>
            <a:rect r="r" b="b" t="t" l="l"/>
            <a:pathLst>
              <a:path h="1060704" w="7315200">
                <a:moveTo>
                  <a:pt x="0" y="0"/>
                </a:moveTo>
                <a:lnTo>
                  <a:pt x="7315200" y="0"/>
                </a:lnTo>
                <a:lnTo>
                  <a:pt x="7315200" y="1060704"/>
                </a:lnTo>
                <a:lnTo>
                  <a:pt x="0" y="1060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02143" y="5879550"/>
            <a:ext cx="3415284" cy="4114800"/>
          </a:xfrm>
          <a:custGeom>
            <a:avLst/>
            <a:gdLst/>
            <a:ahLst/>
            <a:cxnLst/>
            <a:rect r="r" b="b" t="t" l="l"/>
            <a:pathLst>
              <a:path h="4114800" w="3415284">
                <a:moveTo>
                  <a:pt x="0" y="0"/>
                </a:moveTo>
                <a:lnTo>
                  <a:pt x="3415284" y="0"/>
                </a:lnTo>
                <a:lnTo>
                  <a:pt x="3415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95773">
            <a:off x="499318" y="6458876"/>
            <a:ext cx="2077974" cy="4114800"/>
          </a:xfrm>
          <a:custGeom>
            <a:avLst/>
            <a:gdLst/>
            <a:ahLst/>
            <a:cxnLst/>
            <a:rect r="r" b="b" t="t" l="l"/>
            <a:pathLst>
              <a:path h="4114800" w="2077974">
                <a:moveTo>
                  <a:pt x="0" y="0"/>
                </a:moveTo>
                <a:lnTo>
                  <a:pt x="2077974" y="0"/>
                </a:lnTo>
                <a:lnTo>
                  <a:pt x="2077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39178" y="-622850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56481" y="8046253"/>
            <a:ext cx="4789073" cy="526798"/>
          </a:xfrm>
          <a:custGeom>
            <a:avLst/>
            <a:gdLst/>
            <a:ahLst/>
            <a:cxnLst/>
            <a:rect r="r" b="b" t="t" l="l"/>
            <a:pathLst>
              <a:path h="526798" w="4789073">
                <a:moveTo>
                  <a:pt x="0" y="0"/>
                </a:moveTo>
                <a:lnTo>
                  <a:pt x="4789072" y="0"/>
                </a:lnTo>
                <a:lnTo>
                  <a:pt x="4789072" y="526798"/>
                </a:lnTo>
                <a:lnTo>
                  <a:pt x="0" y="5267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5333" y="-473660"/>
            <a:ext cx="3867912" cy="4114800"/>
          </a:xfrm>
          <a:custGeom>
            <a:avLst/>
            <a:gdLst/>
            <a:ahLst/>
            <a:cxnLst/>
            <a:rect r="r" b="b" t="t" l="l"/>
            <a:pathLst>
              <a:path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2143" y="-303767"/>
            <a:ext cx="3867912" cy="4114800"/>
          </a:xfrm>
          <a:custGeom>
            <a:avLst/>
            <a:gdLst/>
            <a:ahLst/>
            <a:cxnLst/>
            <a:rect r="r" b="b" t="t" l="l"/>
            <a:pathLst>
              <a:path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78653" y="1853332"/>
            <a:ext cx="2874276" cy="2918046"/>
          </a:xfrm>
          <a:custGeom>
            <a:avLst/>
            <a:gdLst/>
            <a:ahLst/>
            <a:cxnLst/>
            <a:rect r="r" b="b" t="t" l="l"/>
            <a:pathLst>
              <a:path h="2918046" w="2874276">
                <a:moveTo>
                  <a:pt x="0" y="0"/>
                </a:moveTo>
                <a:lnTo>
                  <a:pt x="2874275" y="0"/>
                </a:lnTo>
                <a:lnTo>
                  <a:pt x="2874275" y="2918046"/>
                </a:lnTo>
                <a:lnTo>
                  <a:pt x="0" y="29180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00090" y="2411627"/>
            <a:ext cx="1652894" cy="2160646"/>
          </a:xfrm>
          <a:custGeom>
            <a:avLst/>
            <a:gdLst/>
            <a:ahLst/>
            <a:cxnLst/>
            <a:rect r="r" b="b" t="t" l="l"/>
            <a:pathLst>
              <a:path h="2160646" w="1652894">
                <a:moveTo>
                  <a:pt x="0" y="0"/>
                </a:moveTo>
                <a:lnTo>
                  <a:pt x="1652894" y="0"/>
                </a:lnTo>
                <a:lnTo>
                  <a:pt x="1652894" y="2160646"/>
                </a:lnTo>
                <a:lnTo>
                  <a:pt x="0" y="21606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049852">
            <a:off x="11525689" y="1890749"/>
            <a:ext cx="1437271" cy="3381813"/>
          </a:xfrm>
          <a:custGeom>
            <a:avLst/>
            <a:gdLst/>
            <a:ahLst/>
            <a:cxnLst/>
            <a:rect r="r" b="b" t="t" l="l"/>
            <a:pathLst>
              <a:path h="3381813" w="1437271">
                <a:moveTo>
                  <a:pt x="0" y="0"/>
                </a:moveTo>
                <a:lnTo>
                  <a:pt x="1437271" y="0"/>
                </a:lnTo>
                <a:lnTo>
                  <a:pt x="1437271" y="3381813"/>
                </a:lnTo>
                <a:lnTo>
                  <a:pt x="0" y="33818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049852">
            <a:off x="3129003" y="5022698"/>
            <a:ext cx="1437271" cy="3381813"/>
          </a:xfrm>
          <a:custGeom>
            <a:avLst/>
            <a:gdLst/>
            <a:ahLst/>
            <a:cxnLst/>
            <a:rect r="r" b="b" t="t" l="l"/>
            <a:pathLst>
              <a:path h="3381813" w="1437271">
                <a:moveTo>
                  <a:pt x="0" y="0"/>
                </a:moveTo>
                <a:lnTo>
                  <a:pt x="1437271" y="0"/>
                </a:lnTo>
                <a:lnTo>
                  <a:pt x="1437271" y="3381813"/>
                </a:lnTo>
                <a:lnTo>
                  <a:pt x="0" y="33818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6420" y="5992391"/>
            <a:ext cx="2896577" cy="2317262"/>
          </a:xfrm>
          <a:custGeom>
            <a:avLst/>
            <a:gdLst/>
            <a:ahLst/>
            <a:cxnLst/>
            <a:rect r="r" b="b" t="t" l="l"/>
            <a:pathLst>
              <a:path h="2317262" w="2896577">
                <a:moveTo>
                  <a:pt x="0" y="0"/>
                </a:moveTo>
                <a:lnTo>
                  <a:pt x="2896577" y="0"/>
                </a:lnTo>
                <a:lnTo>
                  <a:pt x="2896577" y="2317261"/>
                </a:lnTo>
                <a:lnTo>
                  <a:pt x="0" y="231726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66240" y="5222401"/>
            <a:ext cx="5121116" cy="160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GRACIAS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48983" y="9111143"/>
            <a:ext cx="4789073" cy="526798"/>
          </a:xfrm>
          <a:custGeom>
            <a:avLst/>
            <a:gdLst/>
            <a:ahLst/>
            <a:cxnLst/>
            <a:rect r="r" b="b" t="t" l="l"/>
            <a:pathLst>
              <a:path h="526798" w="4789073">
                <a:moveTo>
                  <a:pt x="0" y="0"/>
                </a:moveTo>
                <a:lnTo>
                  <a:pt x="4789072" y="0"/>
                </a:lnTo>
                <a:lnTo>
                  <a:pt x="4789072" y="526798"/>
                </a:lnTo>
                <a:lnTo>
                  <a:pt x="0" y="5267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11625722" y="7818243"/>
            <a:ext cx="2077974" cy="4114800"/>
          </a:xfrm>
          <a:custGeom>
            <a:avLst/>
            <a:gdLst/>
            <a:ahLst/>
            <a:cxnLst/>
            <a:rect r="r" b="b" t="t" l="l"/>
            <a:pathLst>
              <a:path h="4114800" w="2077974">
                <a:moveTo>
                  <a:pt x="0" y="0"/>
                </a:moveTo>
                <a:lnTo>
                  <a:pt x="2077974" y="0"/>
                </a:lnTo>
                <a:lnTo>
                  <a:pt x="2077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374000" y="-1927003"/>
            <a:ext cx="2077974" cy="4114800"/>
          </a:xfrm>
          <a:custGeom>
            <a:avLst/>
            <a:gdLst/>
            <a:ahLst/>
            <a:cxnLst/>
            <a:rect r="r" b="b" t="t" l="l"/>
            <a:pathLst>
              <a:path h="4114800" w="2077974">
                <a:moveTo>
                  <a:pt x="0" y="0"/>
                </a:moveTo>
                <a:lnTo>
                  <a:pt x="2077974" y="0"/>
                </a:lnTo>
                <a:lnTo>
                  <a:pt x="2077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16436099" y="2708436"/>
            <a:ext cx="2077974" cy="4114800"/>
          </a:xfrm>
          <a:custGeom>
            <a:avLst/>
            <a:gdLst/>
            <a:ahLst/>
            <a:cxnLst/>
            <a:rect r="r" b="b" t="t" l="l"/>
            <a:pathLst>
              <a:path h="4114800" w="2077974">
                <a:moveTo>
                  <a:pt x="0" y="0"/>
                </a:moveTo>
                <a:lnTo>
                  <a:pt x="2077974" y="0"/>
                </a:lnTo>
                <a:lnTo>
                  <a:pt x="2077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-1339178" y="3036221"/>
            <a:ext cx="2077974" cy="4114800"/>
          </a:xfrm>
          <a:custGeom>
            <a:avLst/>
            <a:gdLst/>
            <a:ahLst/>
            <a:cxnLst/>
            <a:rect r="r" b="b" t="t" l="l"/>
            <a:pathLst>
              <a:path h="4114800" w="2077974">
                <a:moveTo>
                  <a:pt x="0" y="0"/>
                </a:moveTo>
                <a:lnTo>
                  <a:pt x="2077974" y="0"/>
                </a:lnTo>
                <a:lnTo>
                  <a:pt x="2077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DAHYCntrMaU</dc:identifier>
  <dcterms:modified xsi:type="dcterms:W3CDTF">2011-08-01T06:04:30Z</dcterms:modified>
  <cp:revision>1</cp:revision>
  <dc:title>Presentación de Matemáticas: introducción al álgebra</dc:title>
</cp:coreProperties>
</file>